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ama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371600" cy="13475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PROJECT PRAMAAN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1828800" cy="457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EF6"/>
                </a:solidFill>
                <a:latin typeface="Calibri"/>
              </a:rPr>
              <a:t>The Deterministic Credit Decisioning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Zero Hallucination  ·  33 Penalty Rules  ·  Full Explainability  ·  Institutional-Grade CAM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9FA"/>
                </a:solidFill>
                <a:latin typeface="Calibri"/>
              </a:rPr>
              <a:t>Next-Generation Corporate Credit Appraisal for Indian Lending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Calibri"/>
              </a:rPr>
              <a:t>Manual Credit Appraisal Takes 3–5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Credit officers manually cross-check annual reports, bank statements, GST filings, and external sources. Slow, error-prone, and inconsistent.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Calibri"/>
              </a:rPr>
              <a:t>LLM-Based Solutions Hallucinate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Generative AI models fabricate financial figures and compliance findings. Unacceptable risk for lending decisions worth crores.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Calibri"/>
              </a:rPr>
              <a:t>Fraud Signals Are Buried in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519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Circular trading, shell companies, GST mismatches, and silent restatements hide across 100+ page annual reports and thousands of bank transactions.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166360"/>
            <a:ext cx="411480" cy="411480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20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Calibri"/>
              </a:rPr>
              <a:t>No Standardised Risk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864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Every credit officer applies different judgment. No consistent penalty system for rate adjustments and limit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OUR SOLUTION: PRAMAAN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 deterministic credit engine that analyses annual reports, bank statements, and external bureau data using zero-LLM architecture. Every finding is traceable. Every decision is explainable.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560320"/>
            <a:ext cx="1554480" cy="32004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554480" cy="54864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1A2E"/>
                </a:solidFill>
                <a:latin typeface="Calibri"/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F44"/>
                </a:solidFill>
                <a:latin typeface="Calibri"/>
              </a:rPr>
              <a:t>Upload &amp; 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Annual report PDF + bank
statement CSV → instant
analysis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560320"/>
            <a:ext cx="1554480" cy="32004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03120" y="2560320"/>
            <a:ext cx="1554480" cy="54864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743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1A2E"/>
                </a:solidFill>
                <a:latin typeface="Calibri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F44"/>
                </a:solidFill>
                <a:latin typeface="Calibri"/>
              </a:rPr>
              <a:t>33 Penalty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8404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Deterministic risk detection
across compliance, fraud,
financials, 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560320"/>
            <a:ext cx="1554480" cy="32004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0" y="2560320"/>
            <a:ext cx="1554480" cy="54864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743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1A2E"/>
                </a:solidFill>
                <a:latin typeface="Calibri"/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F44"/>
                </a:solidFill>
                <a:latin typeface="Calibri"/>
              </a:rPr>
              <a:t>Cross-Verify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8404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Reconcile AR claims against
8+ external sources: GST,
MCA, eCourts, CIBIL, News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560320"/>
            <a:ext cx="1554480" cy="32004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0" y="2560320"/>
            <a:ext cx="1554480" cy="54864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743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1A2E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F44"/>
                </a:solidFill>
                <a:latin typeface="Calibri"/>
              </a:rPr>
              <a:t>Decision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8404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Automated rate/limit
adjustment with full
waterfall transparency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2560320"/>
            <a:ext cx="1554480" cy="32004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2560320"/>
            <a:ext cx="1554480" cy="54864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743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1A2E"/>
                </a:solidFill>
                <a:latin typeface="Calibri"/>
              </a:rPr>
              <a:t>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F44"/>
                </a:solidFill>
                <a:latin typeface="Calibri"/>
              </a:rPr>
              <a:t>CAM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8404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Institutional-grade Credit
Appraisal Memo in 12
bank-format sections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1600200" cy="365760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1920240" y="3291840"/>
            <a:ext cx="137160" cy="3657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783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48840"/>
            <a:ext cx="13258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141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Annual Report PDF
Bank Statement CSV
Site Visit 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645920"/>
            <a:ext cx="1600200" cy="3657600"/>
          </a:xfrm>
          <a:prstGeom prst="rect">
            <a:avLst/>
          </a:prstGeom>
          <a:solidFill>
            <a:srgbClr val="1E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703320" y="3291840"/>
            <a:ext cx="137160" cy="3657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783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DEEP READER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148840"/>
            <a:ext cx="13258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286000"/>
            <a:ext cx="141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PDF Extraction
Compliance Scanner
Financial Extractor
Rating Extractor
Shareholding Scanner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645920"/>
            <a:ext cx="1600200" cy="3657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486400" y="3291840"/>
            <a:ext cx="137160" cy="3657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783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EXTERNAL INTEL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40" y="2148840"/>
            <a:ext cx="13258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286000"/>
            <a:ext cx="141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MCA21 Registry
eCourts Litigation
NewsScanner Media
Perfios GST
KARZA Bureau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1645920"/>
            <a:ext cx="1600200" cy="3657600"/>
          </a:xfrm>
          <a:prstGeom prst="rect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269480" y="3291840"/>
            <a:ext cx="137160" cy="3657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1783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CROSS-VERIFY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148840"/>
            <a:ext cx="13258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286000"/>
            <a:ext cx="141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Claims Extraction
8-Source Verification
GST-Bank Recon
Counterparty Intel
Network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1645920"/>
            <a:ext cx="1600200" cy="36576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783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2148840"/>
            <a:ext cx="13258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2286000"/>
            <a:ext cx="141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33 Penalty Rules
Rate Waterfall
Limit Adjustment
CAM Generation
Final Recommendation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669280"/>
            <a:ext cx="8595360" cy="7315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F44"/>
                </a:solidFill>
                <a:latin typeface="Calibri"/>
              </a:rPr>
              <a:t>TECH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React + Vite + Tailwind  |  FastAPI + Uvicorn  |  PyMuPDF + Pandas  |  python-docx  |  React Force Graph 3D  |  Recharts  |  MCA21 / eCourts / NewsAPI / Perfios / KARZA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371600" cy="36576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6"/>
                </a:solidFill>
                <a:latin typeface="Calibri"/>
              </a:rPr>
              <a:t>What makes Pramaan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GST-BANK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Automatically reconciles declared GST turnover (Perfios) against actual bank statement credits to detect revenue overstatement or diversion of funds.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F44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Fetch GST turnover from Perfios API (GSTR-3B aggregate)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Parse bank statement CSV → sum all credit entries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Compute variance: (Bank Credits − GST Turnover) / GST Turnover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Classify: ≤10% = MATCH | 10–20% = PARTIAL | &gt;20% = MISMATCH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MISMATCH triggers P-33: +125 bps rate penalty, −20% limit cut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2194560"/>
            <a:ext cx="3474720" cy="36576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2194560"/>
            <a:ext cx="3474720" cy="45720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240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  Sample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GST Turnover: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Calibri"/>
              </a:rPr>
              <a:t>₹0.58 Crore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127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Bank Credits: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127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Calibri"/>
              </a:rPr>
              <a:t>₹0.57 Crore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198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Variance: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4198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Calibri"/>
              </a:rPr>
              <a:t>−1.7%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7124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Status: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7124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A4D"/>
                </a:solidFill>
                <a:latin typeface="Calibri"/>
              </a:rPr>
              <a:t>MATCH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1422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GSTR 2A vs 3B: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142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Calibri"/>
              </a:rPr>
              <a:t>8.5%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34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Filing Discipline: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Calibri"/>
              </a:rPr>
              <a:t>92.0/100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760720"/>
            <a:ext cx="8046720" cy="5486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2222"/>
                </a:solidFill>
                <a:latin typeface="Calibri"/>
              </a:rPr>
              <a:t>Rule P-33 (RECON-01): If variance exceeds 20%, rate increases by 125 bps and limit is reduced by 20%. CA-certified reconciliation required as condition precedent.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CIRCULAR TRADING &amp; NETWORK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F44"/>
                </a:solidFill>
                <a:latin typeface="Calibri"/>
              </a:rPr>
              <a:t>Multi-Layer 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Pramaan detects circular trading through two independent channels, then cross-references them for high-confidence fraud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84048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54864" cy="100584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926080"/>
            <a:ext cx="365760" cy="365760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529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Bank Statement Analysis [P-28]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Detects A→B and B→A flows within 7-day windows where both amounts exceed ₹10,000. Flags round-trip fund routing.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84048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4864" cy="100584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114800"/>
            <a:ext cx="365760" cy="365760"/>
          </a:xfrm>
          <a:prstGeom prst="ellipse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416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Counterparty Intelligence [P-06]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43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Network graph analysis: shared directors, common addresses, shell company heuristics, circular fund flow chains.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384048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54864" cy="1005840"/>
          </a:xfrm>
          <a:prstGeom prst="rect">
            <a:avLst/>
          </a:prstGeom>
          <a:solidFill>
            <a:srgbClr val="1E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303520"/>
            <a:ext cx="365760" cy="365760"/>
          </a:xfrm>
          <a:prstGeom prst="ellipse">
            <a:avLst/>
          </a:prstGeom>
          <a:solidFill>
            <a:srgbClr val="1E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2303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3D Network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5321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Interactive force-directed graph showing entity relationships, transaction volumes, and circular flow loops in real-time.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371600"/>
            <a:ext cx="3840480" cy="493776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371600"/>
            <a:ext cx="3840480" cy="45720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417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  Network Graph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0116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3D force-directed graph (React Force Graph)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Nodes sized by transaction volume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Red edges = circular flows detected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Green nodes = MCA verified entities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Orange nodes = shell company suspects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Click to inspect counterparty details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Shared director connections highlighted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Auto-detects circular loop chains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1F44"/>
                </a:solidFill>
                <a:latin typeface="Calibri"/>
              </a:rPr>
              <a:t>Detection Capabilities: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5166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P-06 Circular Trading: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166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22"/>
                </a:solidFill>
                <a:latin typeface="Calibri"/>
              </a:rPr>
              <a:t>+200 bps, −30%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394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P-28 Bank Round-trips: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22"/>
                </a:solidFill>
                <a:latin typeface="Calibri"/>
              </a:rPr>
              <a:t>+150 bps, −25%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5623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Shell Company Detection: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623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22"/>
                </a:solidFill>
                <a:latin typeface="Calibri"/>
              </a:rPr>
              <a:t>MCA heuristics + address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SUPPLY CHAIN &amp; SECTOR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F44"/>
                </a:solidFill>
                <a:latin typeface="Calibri"/>
              </a:rPr>
              <a:t>Supply Chain Risk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Upstream supplier concentration &amp; dependency risk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Downstream buyer concentration &amp; payment risk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Weakest link identification in value chain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Major supplier/buyer extraction from AR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3-block framework: Supplier → Borrower → Buyer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Risk bands: Low / Moderate / High with numeric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F44"/>
                </a:solidFill>
                <a:latin typeface="Calibri"/>
              </a:rPr>
              <a:t>Sector Benchmark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EBITDA margin vs sector average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Revenue growth vs sector average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Working capital cycle comparison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Deviation scoring: OK / BELOW / CRITICAL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Competitor structural advantages noted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2E"/>
                </a:solidFill>
                <a:latin typeface="Calibri"/>
              </a:rPr>
              <a:t>▸  P-30: &gt;25% underperformance → penalty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8046720" cy="18288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8046720" cy="41148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  Competitor Analysis in 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A1F44"/>
                </a:solidFill>
                <a:latin typeface="Calibri"/>
              </a:rPr>
              <a:t>The CAM document automatically includes competitor analysis:
• Identifies structural advantages of competitors (e.g., vertical integration, captive sourcing)
• Generates deviation tables: Company vs Sector Benchmark with color-coded status
• Provides narrative on competitive positioning and market risk
• Flags CRITICAL underperformance that impacts credit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CROSS-VERIFICATION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Extracts structured claims from the annual report and verifies each against independent external data sources. Every claim gets a verdict.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777240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  Claim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212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  Verification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12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  Data 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7772400" cy="4114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F44"/>
                </a:solidFill>
                <a:latin typeface="Calibri"/>
              </a:rPr>
              <a:t>Revenue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5786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AR stated revenue vs Bank credits + GST turnover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578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Bank + Perfios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77724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F44"/>
                </a:solidFill>
                <a:latin typeface="Calibri"/>
              </a:rPr>
              <a:t>Profitability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9900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AR stated margins vs Sector benchmark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9900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Sector 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83280"/>
            <a:ext cx="7772400" cy="4114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015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F44"/>
                </a:solidFill>
                <a:latin typeface="Calibri"/>
              </a:rPr>
              <a:t>Compliance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4015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AR statutory compliance vs CARO/auditor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401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Compliance Scanner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94760"/>
            <a:ext cx="77724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130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F44"/>
                </a:solidFill>
                <a:latin typeface="Calibri"/>
              </a:rPr>
              <a:t>Going Concern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8130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AR going concern assertion vs Emphasis of Matter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13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Audit 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06240"/>
            <a:ext cx="7772400" cy="4114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245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F44"/>
                </a:solidFill>
                <a:latin typeface="Calibri"/>
              </a:rPr>
              <a:t>Rating 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2245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AR stated credit rating vs External rating agencies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2245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Rating Extractor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617720"/>
            <a:ext cx="77724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6360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F44"/>
                </a:solidFill>
                <a:latin typeface="Calibri"/>
              </a:rPr>
              <a:t>Litigation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6360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AR legal disclosures vs eCourts active cases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6360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eCourts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029200"/>
            <a:ext cx="7772400" cy="4114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0474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1F44"/>
                </a:solidFill>
                <a:latin typeface="Calibri"/>
              </a:rPr>
              <a:t>GST Reconciliation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0474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GST turnover (Perfios) vs Bank statement credits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047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Bank CSV + Perfios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303520"/>
            <a:ext cx="7772400" cy="7315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49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1F44"/>
                </a:solidFill>
                <a:latin typeface="Calibri"/>
              </a:rPr>
              <a:t>Possible Verdicts: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5669280"/>
            <a:ext cx="1371600" cy="274320"/>
          </a:xfrm>
          <a:prstGeom prst="rect">
            <a:avLst/>
          </a:prstGeom>
          <a:solidFill>
            <a:srgbClr val="00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5669280"/>
            <a:ext cx="1371600" cy="274320"/>
          </a:xfrm>
          <a:prstGeom prst="rect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PARTIAL MATCH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5669280"/>
            <a:ext cx="137160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MISMATCH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669280"/>
            <a:ext cx="1371600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UNVERIFIABLE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33 DETERMINISTIC PENALTY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Every rule has a fixed rate penalty (bps) and limit reduction (%). No black boxes. Full audit trail.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920240"/>
            <a:ext cx="1645920" cy="64008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COMPLIANCE
&amp;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697480"/>
            <a:ext cx="1645920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715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P-03: CARO Default (+150 bps)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91840"/>
            <a:ext cx="16459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3101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P-04: Emphasis of Matter (+75 bps)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86200"/>
            <a:ext cx="1645920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9044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P-09: Silent Restatement (+200 bps)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480560"/>
            <a:ext cx="16459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4988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P-10: Auditor Change (+75 bps)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1920240"/>
            <a:ext cx="1645920" cy="6400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1965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FRAUD
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2697480"/>
            <a:ext cx="1645920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2715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P-06: Circular Trading (+200 bps)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3291840"/>
            <a:ext cx="16459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33101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P-28: Bank Round-trips (+150 bps)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3886200"/>
            <a:ext cx="1645920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9044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P-29: Cash Spike near GST (+50 bps)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4480560"/>
            <a:ext cx="16459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44988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P-05: Adverse Media (+50 bps)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1920240"/>
            <a:ext cx="1645920" cy="640080"/>
          </a:xfrm>
          <a:prstGeom prst="rect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1965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FINANCIAL
RISK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2697480"/>
            <a:ext cx="1645920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2715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P-01: GST Revenue Gap (+100 bps)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3291840"/>
            <a:ext cx="16459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33101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P-33: GST-Bank Mismatch (+125 bps)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3886200"/>
            <a:ext cx="1645920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39044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P-30: Sector Underperform (+50 bps)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4480560"/>
            <a:ext cx="16459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44988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P-31: Revenue Unverified (+100 bps)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1920240"/>
            <a:ext cx="164592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1965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GOVERNANCE
&amp; LEGAL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2697480"/>
            <a:ext cx="1645920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2715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P-02: Director Network (+75 bps)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60" y="3291840"/>
            <a:ext cx="16459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33101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P-13: Adverse Media (+50 bps)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3886200"/>
            <a:ext cx="1645920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0" y="39044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P-15: Court Proceedings (+100 bps)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60" y="4480560"/>
            <a:ext cx="16459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44988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P-14: MCA Not Active (−100% limit)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1920240"/>
            <a:ext cx="1645920" cy="640080"/>
          </a:xfrm>
          <a:prstGeom prst="rect">
            <a:avLst/>
          </a:prstGeom>
          <a:solidFill>
            <a:srgbClr val="1E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1965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OPERATIONS
&amp; SITE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2697480"/>
            <a:ext cx="1645920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27157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P-07: Site Visit Risk (+75 bps)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3291840"/>
            <a:ext cx="16459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33101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P-19: Low Capacity (+100 bps)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3886200"/>
            <a:ext cx="1645920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52360" y="39044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P-20: Premises Vacant (+150 bps)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4480560"/>
            <a:ext cx="164592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44988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1F44"/>
                </a:solidFill>
                <a:latin typeface="Calibri"/>
              </a:rPr>
              <a:t>P-22: Mgmt Non-Coop (+125 bps)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Base Rate: 9.00% p.a.  |  Base Limit: ₹10.00 Crore  |  Rules stack additively  |  Manual review threshold: any HIGH severity rule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CREDIT APPRAISAL MEMO (CAM)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One-click export of a professional .docx Credit Appraisal Memo styled to match IDFC First Bank / HDFC Bank institutional CAM formats. 12 structured sections.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1. Borrower Profile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2. Proposal Summary &amp; Recommendation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3. Financial Analysis (Key Financials + Ratios)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4. GST-Bank Reconciliation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5. Counterparty Intelligence &amp; Circular Trading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6. Supply Chain &amp; Competitor Analysis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7. Verification Details (KYC, Legal, Media, Cross-Verify)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8. Collateral &amp; Security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9. Site Visit / Field Verification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10. Risk Rule Matrix &amp; Penalty Waterfall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11. Recommendation &amp; Conditions Precedent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0A1F44"/>
                </a:solidFill>
                <a:latin typeface="Calibri"/>
              </a:rPr>
              <a:t>▸  12. Committee Decision (Signature Block)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103120"/>
            <a:ext cx="3657600" cy="43891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0" y="2103120"/>
            <a:ext cx="3657600" cy="45720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  CAM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7432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0A1F44"/>
                </a:solidFill>
                <a:latin typeface="Calibri"/>
              </a:rPr>
              <a:t>▸  Dark navy section header bars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A1F44"/>
                </a:solidFill>
                <a:latin typeface="Calibri"/>
              </a:rPr>
              <a:t>▸  Alternating row shading on tables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A1F44"/>
                </a:solidFill>
                <a:latin typeface="Calibri"/>
              </a:rPr>
              <a:t>▸  Color-coded status badges (RED/AMBER/GREEN)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A1F44"/>
                </a:solidFill>
                <a:latin typeface="Calibri"/>
              </a:rPr>
              <a:t>▸  Pramaan logo in header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A1F44"/>
                </a:solidFill>
                <a:latin typeface="Calibri"/>
              </a:rPr>
              <a:t>▸  CONFIDENTIAL watermark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A1F44"/>
                </a:solidFill>
                <a:latin typeface="Calibri"/>
              </a:rPr>
              <a:t>▸  Competitor deviation table with status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A1F44"/>
                </a:solidFill>
                <a:latin typeface="Calibri"/>
              </a:rPr>
              <a:t>▸  Rate &amp; limit calculation waterfall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A1F44"/>
                </a:solidFill>
                <a:latin typeface="Calibri"/>
              </a:rPr>
              <a:t>▸  Conditions precedent based on triggered rules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A1F44"/>
                </a:solidFill>
                <a:latin typeface="Calibri"/>
              </a:rPr>
              <a:t>▸  Signature block for 3 authorities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A1F44"/>
                </a:solidFill>
                <a:latin typeface="Calibri"/>
              </a:rPr>
              <a:t>▸  Full disclaimer &amp; methodology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DASHBOARD &amp; USER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772400" cy="8686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86868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📊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Penalty waterfall chart, final recommendation, rate/limit calculations, applied rules detail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7772400" cy="868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73152" cy="868680"/>
          </a:xfrm>
          <a:prstGeom prst="rect">
            <a:avLst/>
          </a:prstGeom>
          <a:solidFill>
            <a:srgbClr val="1E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🛡️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CARO 2020 findings, auditor qualifications, restatement detection, CEO ambidexterity scores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7772400" cy="8686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73152" cy="868680"/>
          </a:xfrm>
          <a:prstGeom prst="rect">
            <a:avLst/>
          </a:prstGeom>
          <a:solidFill>
            <a:srgbClr val="00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✓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GST reconciliation hero card, supply chain risk panel, network analysis, claim verification cards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7772400" cy="868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73152" cy="868680"/>
          </a:xfrm>
          <a:prstGeom prst="rect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🔍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Bank statement analysis, adverse media scanner, eCourts litigation, BSE annual report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94960"/>
            <a:ext cx="7772400" cy="8686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73152" cy="8686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📈 Financials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Sector benchmarks, restatement analysis, financial trends, MD&amp;A sentiment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943600"/>
            <a:ext cx="7772400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Brutalist cream/ink/red design system  ·  Fully responsive  ·  Real-time analysis  ·  One-click CAM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EXTERNAL DATA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560320" cy="21031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560320" cy="54864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MCA21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Company status, CIN, directors,
charges, paid-up capital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017520"/>
            <a:ext cx="1097280" cy="274320"/>
          </a:xfrm>
          <a:prstGeom prst="rect">
            <a:avLst/>
          </a:prstGeom>
          <a:solidFill>
            <a:srgbClr val="00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Live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63040"/>
            <a:ext cx="2560320" cy="21031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560320" cy="54864"/>
          </a:xfrm>
          <a:prstGeom prst="rect">
            <a:avLst/>
          </a:prstGeom>
          <a:solidFill>
            <a:srgbClr val="1E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Perfios GST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GSTR-3B turnover, 2A vs 3B
mismatch, filing discipline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3017520"/>
            <a:ext cx="1097280" cy="274320"/>
          </a:xfrm>
          <a:prstGeom prst="rect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Mock (Demo)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560320" cy="21031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560320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KARZA Bureau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CIBIL score, litigation history,
charge holders, DPD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017520"/>
            <a:ext cx="1097280" cy="274320"/>
          </a:xfrm>
          <a:prstGeom prst="rect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Mock (Demo)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2560320" cy="21031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2560320" cy="54864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eCourts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72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Active cases by NCLT, DRT,
High Court; risk classification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577840"/>
            <a:ext cx="1097280" cy="274320"/>
          </a:xfrm>
          <a:prstGeom prst="rect">
            <a:avLst/>
          </a:prstGeom>
          <a:solidFill>
            <a:srgbClr val="00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Live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4023360"/>
            <a:ext cx="2560320" cy="21031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023360"/>
            <a:ext cx="2560320" cy="54864"/>
          </a:xfrm>
          <a:prstGeom prst="rect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NewsAPI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572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Real-time adverse media scan:
fraud, raid, SEBI, insolvency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5577840"/>
            <a:ext cx="1097280" cy="274320"/>
          </a:xfrm>
          <a:prstGeom prst="rect">
            <a:avLst/>
          </a:prstGeom>
          <a:solidFill>
            <a:srgbClr val="00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Live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023360"/>
            <a:ext cx="2560320" cy="21031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4023360"/>
            <a:ext cx="256032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F44"/>
                </a:solidFill>
                <a:latin typeface="Calibri"/>
              </a:rPr>
              <a:t>BSE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572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Annual report downloads from
BSE corporate filings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5577840"/>
            <a:ext cx="1097280" cy="274320"/>
          </a:xfrm>
          <a:prstGeom prst="rect">
            <a:avLst/>
          </a:prstGeom>
          <a:solidFill>
            <a:srgbClr val="00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5577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Live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PRAMAAN?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Calibri"/>
              </a:rPr>
              <a:t>Zero 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Pure keyword/regex/pattern matching. No generative AI. Every finding is traceable to the source document, page, and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574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Unlike LLM-based credit tools, Pramaan never fabricates financial figures.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517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Calibri"/>
              </a:rPr>
              <a:t>Full Explainability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71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33 deterministic rules with fixed penalties. Every rate adjustment and limit reduction links to a specific rule and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375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Credit officers can audit the entire decision chain in seconds.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00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🇮🇳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Calibri"/>
              </a:rPr>
              <a:t>Indian-Centric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51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Built for CARO 2020, MCA21, GSTR-2A/3B, eCourts India, Indian sector benchmarks, and Loughran-McDonald financial lexicon.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17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Not a Western tool adapted for India — built from scratch for Indian lending.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03520"/>
            <a:ext cx="548640" cy="548640"/>
          </a:xfrm>
          <a:prstGeom prst="ellipse">
            <a:avLst/>
          </a:prstGeom>
          <a:solidFill>
            <a:srgbClr val="CC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F44"/>
                </a:solidFill>
                <a:latin typeface="Calibri"/>
              </a:rPr>
              <a:t>Multi-Source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532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Cross-verifies annual report claims against 8+ independent sources: bank statements, GST, CIBIL, MCA, eCourts, news, sector benchmarks.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897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Calibri"/>
              </a:rPr>
              <a:t>Single-source analysis is unreliable. Pramaan triangulates across all sources.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772400" cy="8686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822960" cy="86868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173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Upload Annual Report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373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Drag &amp; drop any Indian company's annual report. The Deep Reader pipeline extracts financials, compliance, ratings, shareholding, and MD&amp;A in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7772400" cy="868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822960" cy="86868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2316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Upload Bank Statement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7432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Optional: upload a bank statement CSV to enable GST reconciliation, circular transaction detection, and counterparty intelligence.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7772400" cy="8686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822960" cy="86868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42900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Review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7490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Navigate 5 tabs: Decision waterfall, Compliance findings, Cross-verification results, Network intelligence, Financial analysis.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7772400" cy="8686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822960" cy="86868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4348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Inspect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7548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Click into GST reconciliation, circular trading network, supply chain risk, sector benchmarks. Every finding links to evidence.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94960"/>
            <a:ext cx="7772400" cy="8686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394960"/>
            <a:ext cx="822960" cy="868680"/>
          </a:xfrm>
          <a:prstGeom prst="rect">
            <a:avLst/>
          </a:prstGeom>
          <a:solidFill>
            <a:srgbClr val="0F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44068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1F44"/>
                </a:solidFill>
                <a:latin typeface="Calibri"/>
              </a:rPr>
              <a:t>Export CAM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7607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One click → professional 12-section Word document. Ready for committee review with signature blocks.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ama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1828800" cy="17967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PROJECT PRAMAAN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3749039"/>
            <a:ext cx="1463040" cy="36576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8EEF6"/>
                </a:solidFill>
                <a:latin typeface="Calibri"/>
              </a:rPr>
              <a:t>The Deterministic Credit Decisioning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Penalty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846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8+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846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CAM Sections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846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Hallucinations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Zero LLM  ·  Full Explainability  ·  Indian-Centric  ·  Institutional 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